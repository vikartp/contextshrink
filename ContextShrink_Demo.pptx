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0">
                <a:solidFill>
                  <a:srgbClr val="F0F0F5"/>
                </a:solidFill>
                <a:latin typeface="Calibri"/>
              </a:defRPr>
            </a:pPr>
            <a:r>
              <a:t>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2D3EE"/>
                </a:solidFill>
                <a:latin typeface="Calibri"/>
              </a:defRPr>
            </a:pPr>
            <a:r>
              <a:t>ContextShrink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A8A9A"/>
                </a:solidFill>
                <a:latin typeface="Calibri"/>
              </a:defRPr>
            </a:pPr>
            <a:r>
              <a:t>Scan, Scrub &amp; Shrink your code before sending to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743200"/>
            <a:ext cx="7619695" cy="68580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2852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5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85292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  <a:latin typeface="Calibri"/>
              </a:defRPr>
            </a:pPr>
            <a:r>
              <a:t>Developers burn 30–60% of tokens on comments, boilerplate &amp; dead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611880"/>
            <a:ext cx="7619695" cy="68580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37216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5"/>
                </a:solidFill>
                <a:latin typeface="Calibri"/>
              </a:defRPr>
            </a:pPr>
            <a:r>
              <a:t>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72160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  <a:latin typeface="Calibri"/>
              </a:defRPr>
            </a:pPr>
            <a:r>
              <a:t>API keys, passwords &amp; PII get leaked into AI tools daily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480560"/>
            <a:ext cx="7619695" cy="68580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590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5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59028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  <a:latin typeface="Calibri"/>
              </a:defRPr>
            </a:pPr>
            <a:r>
              <a:t>Wasted tokens = wasted money on every single AI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9A"/>
                </a:solidFill>
                <a:latin typeface="Calibri"/>
              </a:defRPr>
            </a:pPr>
            <a: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0F0F5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A9A"/>
                </a:solidFill>
                <a:latin typeface="Calibri"/>
              </a:defRPr>
            </a:pPr>
            <a:r>
              <a:t>Three steps — paste your code and get an optimized, safe version in 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49527" y="201168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46807" y="2286000"/>
            <a:ext cx="548640" cy="548640"/>
          </a:xfrm>
          <a:prstGeom prst="ellipse">
            <a:avLst/>
          </a:prstGeom>
          <a:solidFill>
            <a:srgbClr val="0A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22D3EE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9527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0F5"/>
                </a:solidFill>
                <a:latin typeface="Calibri"/>
              </a:defRPr>
            </a:pPr>
            <a:r>
              <a:t>🛡️  1. 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3847" y="35661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8A9A"/>
                </a:solidFill>
                <a:latin typeface="Calibri"/>
              </a:defRPr>
            </a:pPr>
            <a:r>
              <a:t>Detects 15+ secret types</a:t>
            </a:r>
            <a:br/>
            <a:r>
              <a:t>(AWS keys, GitHub tokens,</a:t>
            </a:r>
            <a:br/>
            <a:r>
              <a:t>JWTs, DB URLs, PII)</a:t>
            </a:r>
            <a:br/>
            <a:br/>
            <a:r>
              <a:t>✅ 100% client-side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2807" y="201168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30087" y="2286000"/>
            <a:ext cx="548640" cy="548640"/>
          </a:xfrm>
          <a:prstGeom prst="ellipse">
            <a:avLst/>
          </a:prstGeom>
          <a:solidFill>
            <a:srgbClr val="1A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A78BFA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807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0F5"/>
                </a:solidFill>
                <a:latin typeface="Calibri"/>
              </a:defRPr>
            </a:pPr>
            <a:r>
              <a:t>🔒  2. Scrub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7127" y="35661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8A9A"/>
                </a:solidFill>
                <a:latin typeface="Calibri"/>
              </a:defRPr>
            </a:pPr>
            <a:r>
              <a:t>One-click auto-mask</a:t>
            </a:r>
            <a:br/>
            <a:r>
              <a:t>replaces all secrets with</a:t>
            </a:r>
            <a:br/>
            <a:r>
              <a:t>safe [REDACTED_TYPE]</a:t>
            </a:r>
            <a:br/>
            <a:r>
              <a:t>placeholders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087" y="201168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13367" y="2286000"/>
            <a:ext cx="548640" cy="548640"/>
          </a:xfrm>
          <a:prstGeom prst="ellipse">
            <a:avLst/>
          </a:prstGeom>
          <a:solidFill>
            <a:srgbClr val="0A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087" y="3017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0F5"/>
                </a:solidFill>
                <a:latin typeface="Calibri"/>
              </a:defRPr>
            </a:pPr>
            <a:r>
              <a:t>✨  3. Shrink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407" y="35661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8A9A"/>
                </a:solidFill>
                <a:latin typeface="Calibri"/>
              </a:defRPr>
            </a:pPr>
            <a:r>
              <a:t>AI strips comments,</a:t>
            </a:r>
            <a:br/>
            <a:r>
              <a:t>dead imports &amp; boilerplate</a:t>
            </a:r>
            <a:br/>
            <a:br/>
            <a:r>
              <a:t>✅ Real-time streaming</a:t>
            </a:r>
            <a:br/>
            <a:r>
              <a:t>via SSE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7047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A8A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0327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A8A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9A"/>
                </a:solidFill>
                <a:latin typeface="Calibri"/>
              </a:defRPr>
            </a:pPr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0F0F5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9487" y="13716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3807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0F5"/>
                </a:solidFill>
                <a:latin typeface="Calibri"/>
              </a:defRPr>
            </a:pPr>
            <a:r>
              <a:t>🧑‍💻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3807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Calibri"/>
              </a:defRPr>
            </a:pPr>
            <a:r>
              <a:t>3 Shrink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3807" y="2331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9A"/>
                </a:solidFill>
                <a:latin typeface="Calibri"/>
              </a:defRPr>
            </a:pPr>
            <a:r>
              <a:t>Code compression, Text</a:t>
            </a:r>
            <a:br/>
            <a:r>
              <a:t>condensing, Prompt optimization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5647" y="13716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9967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0F5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9967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Calibri"/>
              </a:defRPr>
            </a:pPr>
            <a:r>
              <a:t>Token Counter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9967" y="2331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9A"/>
                </a:solidFill>
                <a:latin typeface="Calibri"/>
              </a:defRPr>
            </a:pPr>
            <a:r>
              <a:t>Exact GPT-4o counts using</a:t>
            </a:r>
            <a:br/>
            <a:r>
              <a:t>o200k_base + cost calculator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1807" y="13716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6127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0F5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6127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Calibri"/>
              </a:defRPr>
            </a:pPr>
            <a:r>
              <a:t>Privacy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6127" y="2331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9A"/>
                </a:solidFill>
                <a:latin typeface="Calibri"/>
              </a:defRPr>
            </a:pPr>
            <a:r>
              <a:t>Scanning &amp; counting run</a:t>
            </a:r>
            <a:br/>
            <a:r>
              <a:t>100% in-browser. Zero login.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487" y="352044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3807" y="3703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0F5"/>
                </a:solidFill>
                <a:latin typeface="Calibri"/>
              </a:defRPr>
            </a:pPr>
            <a:r>
              <a:t>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3807" y="4114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Calibri"/>
              </a:defRPr>
            </a:pPr>
            <a:r>
              <a:t>Drag &amp; Drop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3807" y="44805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9A"/>
                </a:solidFill>
                <a:latin typeface="Calibri"/>
              </a:defRPr>
            </a:pPr>
            <a:r>
              <a:t>Auto-detects language from</a:t>
            </a:r>
            <a:br/>
            <a:r>
              <a:t>25+ file extensions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5647" y="352044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9967" y="3703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0F5"/>
                </a:solidFill>
                <a:latin typeface="Calibri"/>
              </a:defRPr>
            </a:pPr>
            <a:r>
              <a:t>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9967" y="4114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Calibri"/>
              </a:defRPr>
            </a:pPr>
            <a:r>
              <a:t>Dark / Light Theme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9967" y="44805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9A"/>
                </a:solidFill>
                <a:latin typeface="Calibri"/>
              </a:defRPr>
            </a:pPr>
            <a:r>
              <a:t>System-aware toggle with</a:t>
            </a:r>
            <a:br/>
            <a:r>
              <a:t>smooth transitions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1807" y="352044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6127" y="3703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0F0F5"/>
                </a:solidFill>
                <a:latin typeface="Calibri"/>
              </a:defRPr>
            </a:pPr>
            <a:r>
              <a:t>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6127" y="4114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  <a:latin typeface="Calibri"/>
              </a:defRPr>
            </a:pPr>
            <a:r>
              <a:t>Docker 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6127" y="44805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9A"/>
                </a:solidFill>
                <a:latin typeface="Calibri"/>
              </a:defRPr>
            </a:pPr>
            <a:r>
              <a:t>One-command setup with</a:t>
            </a:r>
            <a:br/>
            <a:r>
              <a:t>multi-stage builds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9A"/>
                </a:solidFill>
                <a:latin typeface="Calibri"/>
              </a:defRPr>
            </a:pPr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0F0F5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5207" y="1097280"/>
            <a:ext cx="3200400" cy="82296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3807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8A9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3807" y="1481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Calibri"/>
              </a:defRPr>
            </a:pPr>
            <a:r>
              <a:t>Next.js 16 + TypeScript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5647" y="1097280"/>
            <a:ext cx="3200400" cy="82296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4247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8A9A"/>
                </a:solidFill>
                <a:latin typeface="Calibri"/>
              </a:defRPr>
            </a:pPr>
            <a:r>
              <a:t>STYLING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247" y="1481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TailwindCSS 3.4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087" y="1097280"/>
            <a:ext cx="3200400" cy="82296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4687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8A9A"/>
                </a:solidFill>
                <a:latin typeface="Calibri"/>
              </a:defRPr>
            </a:pPr>
            <a:r>
              <a:t>EDITOR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4687" y="1481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Calibri"/>
              </a:defRPr>
            </a:pPr>
            <a:r>
              <a:t>CodeMirror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5207" y="2103120"/>
            <a:ext cx="3200400" cy="82296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3807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8A9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3807" y="2487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Calibri"/>
              </a:defRPr>
            </a:pPr>
            <a:r>
              <a:t>Express + TypeScript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95647" y="2103120"/>
            <a:ext cx="3200400" cy="82296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4247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8A9A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247" y="2487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Calibri"/>
              </a:defRPr>
            </a:pPr>
            <a:r>
              <a:t>OpenAI SDK (SSE)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6087" y="2103120"/>
            <a:ext cx="3200400" cy="82296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687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8A9A"/>
                </a:solidFill>
                <a:latin typeface="Calibri"/>
              </a:defRPr>
            </a:pPr>
            <a:r>
              <a:t>TOKENIZER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4687" y="2487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  <a:latin typeface="Calibri"/>
              </a:defRPr>
            </a:pPr>
            <a:r>
              <a:t>js-tiktoken (client)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207" y="3108960"/>
            <a:ext cx="3200400" cy="82296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3807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8A9A"/>
                </a:solidFill>
                <a:latin typeface="Calibri"/>
              </a:defRPr>
            </a:pPr>
            <a:r>
              <a:t>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3807" y="3493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next-themes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95647" y="3108960"/>
            <a:ext cx="3200400" cy="82296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4247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8A9A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4247" y="3493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Calibri"/>
              </a:defRPr>
            </a:pPr>
            <a:r>
              <a:t>Docker + Vercel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6087" y="3108960"/>
            <a:ext cx="3200400" cy="82296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4687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8A9A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4687" y="3493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  <a:latin typeface="Calibri"/>
              </a:defRPr>
            </a:pPr>
            <a:r>
              <a:t>Client-side regex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92427" y="484632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92427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D3EE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92427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A9A"/>
                </a:solidFill>
                <a:latin typeface="Calibri"/>
              </a:defRPr>
            </a:pPr>
            <a:r>
              <a:t>React Components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24147" y="484632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147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78BFA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24147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A9A"/>
                </a:solidFill>
                <a:latin typeface="Calibri"/>
              </a:defRPr>
            </a:pPr>
            <a:r>
              <a:t>Secret Patterns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55867" y="484632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5867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55867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A9A"/>
                </a:solidFill>
                <a:latin typeface="Calibri"/>
              </a:defRPr>
            </a:pPr>
            <a:r>
              <a:t>Data Stored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87587" y="484632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87587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BBF24"/>
                </a:solidFill>
                <a:latin typeface="Calibri"/>
              </a:defRPr>
            </a:pPr>
            <a:r>
              <a:t>25+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87587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A9A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9A"/>
                </a:solidFill>
                <a:latin typeface="Calibri"/>
              </a:defRPr>
            </a:pPr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0">
                <a:solidFill>
                  <a:srgbClr val="F0F0F5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5448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0F5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A9A"/>
                </a:solidFill>
                <a:latin typeface="Calibri"/>
              </a:defRPr>
            </a:pPr>
            <a:r>
              <a:t>Paste code  →  Scan for secrets  →  Mask  →  Shrink  →  Copy optimized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200400"/>
            <a:ext cx="5790895" cy="182880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3383280"/>
            <a:ext cx="52422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Calibri"/>
              </a:defRPr>
            </a:pPr>
            <a:r>
              <a:t>Save 30–60% tokens on every AI request</a:t>
            </a:r>
          </a:p>
          <a:p>
            <a:pPr algn="ctr">
              <a:spcBef>
                <a:spcPts val="1400"/>
              </a:spcBef>
              <a:defRPr sz="1500" b="0">
                <a:solidFill>
                  <a:srgbClr val="22D3EE"/>
                </a:solidFill>
                <a:latin typeface="Calibri"/>
              </a:defRPr>
            </a:pPr>
            <a:r>
              <a:t>Keep your secrets safe — scanning never leaves the browser</a:t>
            </a:r>
          </a:p>
          <a:p>
            <a:pPr algn="ctr">
              <a:spcBef>
                <a:spcPts val="1000"/>
              </a:spcBef>
              <a:defRPr sz="1500" b="0">
                <a:solidFill>
                  <a:srgbClr val="FBBF24"/>
                </a:solidFill>
                <a:latin typeface="Calibri"/>
              </a:defRPr>
            </a:pPr>
            <a:r>
              <a:t>Spend less money — see exact cost savings per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5394960"/>
            <a:ext cx="3962095" cy="594360"/>
          </a:xfrm>
          <a:prstGeom prst="roundRect">
            <a:avLst>
              <a:gd name="adj" fmla="val 5000"/>
            </a:avLst>
          </a:prstGeom>
          <a:solidFill>
            <a:srgbClr val="22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5458968"/>
            <a:ext cx="3962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D3EE"/>
                </a:solidFill>
                <a:latin typeface="Calibri"/>
              </a:defRPr>
            </a:pPr>
            <a:r>
              <a:t>⟨/⟩  github.com/vikartp/ContextShrink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A9A"/>
                </a:solidFill>
                <a:latin typeface="Calibri"/>
              </a:defRPr>
            </a:pPr>
            <a:r>
              <a:t>Thank you!  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9A"/>
                </a:solidFill>
                <a:latin typeface="Calibri"/>
              </a:defRPr>
            </a:pPr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